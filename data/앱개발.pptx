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566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52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basic.streamlit.app/Irregula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FFFFFF"/>
                </a:solidFill>
              </a:rPr>
              <a:t>🦝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 Form Learner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Regular Past Tense (-ed) to Korean Middle School EFL Learners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최지현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newbasic.streamlit.app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Context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where, and what challenges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59523" y="1367028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59523" y="15587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523707" y="2199659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88123" y="2591798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EFL students at a Korean public middle school. Mixed ability — lower to higher proficiency in the same classroom.</a:t>
            </a:r>
            <a:endParaRPr lang="en-US" sz="12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56CC5F8-AC8D-481A-95E2-949737E3C197}"/>
              </a:ext>
            </a:extLst>
          </p:cNvPr>
          <p:cNvGrpSpPr/>
          <p:nvPr/>
        </p:nvGrpSpPr>
        <p:grpSpPr>
          <a:xfrm>
            <a:off x="4684541" y="1360170"/>
            <a:ext cx="2785403" cy="3108960"/>
            <a:chOff x="3291840" y="1371600"/>
            <a:chExt cx="2785403" cy="3108960"/>
          </a:xfrm>
        </p:grpSpPr>
        <p:sp>
          <p:nvSpPr>
            <p:cNvPr id="10" name="Shape 8"/>
            <p:cNvSpPr/>
            <p:nvPr/>
          </p:nvSpPr>
          <p:spPr>
            <a:xfrm>
              <a:off x="3379763" y="1371600"/>
              <a:ext cx="2697480" cy="310896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3291840" y="1554480"/>
              <a:ext cx="26974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dirty="0">
                  <a:solidFill>
                    <a:srgbClr val="000000"/>
                  </a:solidFill>
                </a:rPr>
                <a:t>🏫</a:t>
              </a:r>
              <a:endParaRPr lang="en-US" sz="3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29000" y="2194560"/>
              <a:ext cx="24231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2C5F2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Environment</a:t>
              </a:r>
              <a:endParaRPr lang="en-US" sz="1800" dirty="0"/>
            </a:p>
          </p:txBody>
        </p:sp>
      </p:grpSp>
      <p:sp>
        <p:nvSpPr>
          <p:cNvPr id="13" name="Text 11"/>
          <p:cNvSpPr/>
          <p:nvPr/>
        </p:nvSpPr>
        <p:spPr>
          <a:xfrm>
            <a:off x="5004581" y="257175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English classroom with 1:1 devices (tablet / phone) or a shared screen. Wi-Fi access, browser-based — no install needed.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Geoje Gohyeon Middle School · Grade 7 · Mixed-ability EFL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</a:t>
            </a:r>
            <a:r>
              <a:rPr lang="ko-KR" alt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Problem &amp; Need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-ed is harder than it looks</a:t>
            </a:r>
            <a:endParaRPr lang="en-US" sz="13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3267ED8-4C3B-412A-8474-70B7E6E41E6C}"/>
              </a:ext>
            </a:extLst>
          </p:cNvPr>
          <p:cNvGrpSpPr/>
          <p:nvPr/>
        </p:nvGrpSpPr>
        <p:grpSpPr>
          <a:xfrm>
            <a:off x="495299" y="2744153"/>
            <a:ext cx="3408485" cy="1533333"/>
            <a:chOff x="457200" y="1371600"/>
            <a:chExt cx="3657600" cy="3108960"/>
          </a:xfrm>
        </p:grpSpPr>
        <p:sp>
          <p:nvSpPr>
            <p:cNvPr id="6" name="Shape 4"/>
            <p:cNvSpPr/>
            <p:nvPr/>
          </p:nvSpPr>
          <p:spPr>
            <a:xfrm>
              <a:off x="457200" y="1371600"/>
              <a:ext cx="3657600" cy="3108960"/>
            </a:xfrm>
            <a:prstGeom prst="roundRect">
              <a:avLst>
                <a:gd name="adj" fmla="val 2941"/>
              </a:avLst>
            </a:prstGeom>
            <a:solidFill>
              <a:srgbClr val="2C5F2D"/>
            </a:solidFill>
            <a:ln w="12700">
              <a:solidFill>
                <a:srgbClr val="E5E7EB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457200" y="269748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FE3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 -ed sounds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57200" y="3200400"/>
              <a:ext cx="36576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liked  /t/   ·   played  /d/   ·   wanted  /ɪd/</a:t>
              </a:r>
              <a:endParaRPr lang="en-US" sz="14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37947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i="1" dirty="0">
                  <a:solidFill>
                    <a:srgbClr val="97BC6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Often invisible to learners</a:t>
              </a:r>
              <a:endParaRPr lang="en-US" sz="12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4572000" y="142405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learners actually need: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1200150"/>
            <a:ext cx="4251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practice for a mixed-ability class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that explains the rule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exposure to the three -ed sounds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diagnose their own weak 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beyond rote worksheets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8597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alone is insufficient — pronunciation distinction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2028" y="2978859"/>
            <a:ext cx="2395025" cy="209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276987B-2515-4BF9-9877-00002FBFB33C}"/>
              </a:ext>
            </a:extLst>
          </p:cNvPr>
          <p:cNvGrpSpPr/>
          <p:nvPr/>
        </p:nvGrpSpPr>
        <p:grpSpPr>
          <a:xfrm>
            <a:off x="495297" y="1230540"/>
            <a:ext cx="3408488" cy="1440718"/>
            <a:chOff x="457197" y="1371600"/>
            <a:chExt cx="3657603" cy="3108960"/>
          </a:xfrm>
          <a:solidFill>
            <a:schemeClr val="accent2">
              <a:lumMod val="75000"/>
            </a:schemeClr>
          </a:solidFill>
        </p:grpSpPr>
        <p:sp>
          <p:nvSpPr>
            <p:cNvPr id="16" name="Shape 4">
              <a:extLst>
                <a:ext uri="{FF2B5EF4-FFF2-40B4-BE49-F238E27FC236}">
                  <a16:creationId xmlns:a16="http://schemas.microsoft.com/office/drawing/2014/main" id="{ED2D0B94-26DB-4485-9A55-CDAD9A182E1F}"/>
                </a:ext>
              </a:extLst>
            </p:cNvPr>
            <p:cNvSpPr/>
            <p:nvPr/>
          </p:nvSpPr>
          <p:spPr>
            <a:xfrm>
              <a:off x="457200" y="1371600"/>
              <a:ext cx="3657600" cy="3108960"/>
            </a:xfrm>
            <a:prstGeom prst="roundRect">
              <a:avLst>
                <a:gd name="adj" fmla="val 2941"/>
              </a:avLst>
            </a:prstGeom>
            <a:grpFill/>
            <a:ln w="12700">
              <a:solidFill>
                <a:srgbClr val="E5E7EB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9A01E1B5-86F3-4C19-BC85-CAAFC03006CD}"/>
                </a:ext>
              </a:extLst>
            </p:cNvPr>
            <p:cNvSpPr/>
            <p:nvPr/>
          </p:nvSpPr>
          <p:spPr>
            <a:xfrm>
              <a:off x="457200" y="2697480"/>
              <a:ext cx="36576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FE3C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  cases</a:t>
              </a:r>
              <a:endParaRPr lang="en-US" sz="1600" dirty="0"/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790A51FE-C774-4684-AE45-AD4BCC14F7DF}"/>
                </a:ext>
              </a:extLst>
            </p:cNvPr>
            <p:cNvSpPr/>
            <p:nvPr/>
          </p:nvSpPr>
          <p:spPr>
            <a:xfrm>
              <a:off x="457197" y="3398959"/>
              <a:ext cx="3657600" cy="548639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Ending with ‘e’   ·   ending with ‘y’   ·   </a:t>
              </a:r>
            </a:p>
            <a:p>
              <a:pPr marL="0" indent="0" algn="ctr">
                <a:buNone/>
              </a:pPr>
              <a:r>
                <a:rPr lang="en-US" sz="1400" i="1" dirty="0">
                  <a:solidFill>
                    <a:schemeClr val="bg1"/>
                  </a:solidFill>
                </a:rPr>
                <a:t>CVC pattern</a:t>
              </a:r>
            </a:p>
          </p:txBody>
        </p:sp>
      </p:grpSp>
      <p:sp>
        <p:nvSpPr>
          <p:cNvPr id="20" name="Text 5">
            <a:extLst>
              <a:ext uri="{FF2B5EF4-FFF2-40B4-BE49-F238E27FC236}">
                <a16:creationId xmlns:a16="http://schemas.microsoft.com/office/drawing/2014/main" id="{E60F077A-FC10-4F6E-819F-6EDF28110259}"/>
              </a:ext>
            </a:extLst>
          </p:cNvPr>
          <p:cNvSpPr/>
          <p:nvPr/>
        </p:nvSpPr>
        <p:spPr>
          <a:xfrm>
            <a:off x="960120" y="1485832"/>
            <a:ext cx="2395025" cy="209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· 50 minutes · Regular past tense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5'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diagnostic quiz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21408" y="14173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4173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18'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21408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21408" y="2468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explains 4 -ed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14173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E58E26"/>
          </a:solidFill>
          <a:ln w="12700">
            <a:solidFill>
              <a:srgbClr val="E58E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4173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10'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85616" y="2468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/t/, /d/, /ɪd/ focus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9824" y="14173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4173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12'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9824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9824" y="2468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games &amp; quizzes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14032" y="1417320"/>
            <a:ext cx="1572768" cy="54864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417320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5'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14032" y="21031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14032" y="246888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via app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36722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0F4EC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Objectives: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used at warm-up and wrap-up; teacher leads explanation</a:t>
            </a:r>
            <a:endParaRPr lang="en-US" sz="1000" dirty="0"/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6C3902AF-090E-4B84-89FD-4CA652EB9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7" y="3887927"/>
            <a:ext cx="78694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spelling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rules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consonant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rules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double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final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consonant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given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base-form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verbs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307769BA-B557-4404-A6B6-F5B83B504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17" y="4121825"/>
            <a:ext cx="767870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Distinguish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pronunciations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ɪd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by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selecting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correct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sound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after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listening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audio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prompts</a:t>
            </a:r>
            <a:r>
              <a:rPr kumimoji="0" lang="ko-KR" altLang="ko-KR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Demonstration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tabs, one learning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71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Qs · personalized prescription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488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1️⃣–4️⃣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Rule Tabs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+ mini-quiz with instant feedback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9260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Bird Game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timed game · class leaderboard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7033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5F2D"/>
                </a:solidFill>
              </a:rPr>
              <a:t>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pronunciation + 5 three-form · completion certificate</a:t>
            </a:r>
            <a:endParaRPr lang="en-US" sz="11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C5947A9-B455-4929-91FF-8F83CAB4DA18}"/>
              </a:ext>
            </a:extLst>
          </p:cNvPr>
          <p:cNvGrpSpPr/>
          <p:nvPr/>
        </p:nvGrpSpPr>
        <p:grpSpPr>
          <a:xfrm>
            <a:off x="1211580" y="1880684"/>
            <a:ext cx="3566160" cy="419217"/>
            <a:chOff x="1211580" y="1880684"/>
            <a:chExt cx="3566160" cy="419217"/>
          </a:xfrm>
        </p:grpSpPr>
        <p:sp>
          <p:nvSpPr>
            <p:cNvPr id="26" name="Shape 24"/>
            <p:cNvSpPr/>
            <p:nvPr/>
          </p:nvSpPr>
          <p:spPr>
            <a:xfrm>
              <a:off x="1211580" y="1888421"/>
              <a:ext cx="3566160" cy="411480"/>
            </a:xfrm>
            <a:prstGeom prst="roundRect">
              <a:avLst>
                <a:gd name="adj" fmla="val 22222"/>
              </a:avLst>
            </a:prstGeom>
            <a:solidFill>
              <a:srgbClr val="FFF3E0"/>
            </a:solidFill>
            <a:ln w="12700">
              <a:solidFill>
                <a:srgbClr val="E58E26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1291590" y="1880684"/>
              <a:ext cx="33832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i="1" dirty="0">
                  <a:solidFill>
                    <a:srgbClr val="E58E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✨ Signature: 3 speaker buttons play walkt / walkd / walkid — pick the right -ed sound</a:t>
              </a:r>
              <a:endParaRPr lang="en-US" sz="95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· Python · browser TTS · Google Sheets</a:t>
            </a:r>
            <a:endParaRPr lang="en-US" sz="1000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B432B3F-EF12-4761-BA3C-623954B475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729" b="9603"/>
          <a:stretch/>
        </p:blipFill>
        <p:spPr>
          <a:xfrm>
            <a:off x="5387047" y="247923"/>
            <a:ext cx="3033346" cy="4213314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8581DE77-4A1E-4C81-81E4-29D1C1BA73C5}"/>
              </a:ext>
            </a:extLst>
          </p:cNvPr>
          <p:cNvSpPr/>
          <p:nvPr/>
        </p:nvSpPr>
        <p:spPr>
          <a:xfrm>
            <a:off x="5460023" y="1573823"/>
            <a:ext cx="2960370" cy="3418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Bookend strategy — app at the edges, teacher in the middle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🩺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take the 10-question diagnostic. The app prescribes which rules and sounds to review.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👩‍🏫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Lead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presents the 4 -ed spelling rules and the 3 -ed sounds on the board.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8288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🐦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2514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Homework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97180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game and mini-quizzes for recall. HOMEWORK tab assigned with completion certificate.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0F4EC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handles diagnosis, feedback, and motivation — freeing the teacher to circulate and give targeted individual support.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by design · efficient feedback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Demonstration</a:t>
            </a:r>
            <a:endParaRPr lang="en-US" altLang="ko-KR" sz="2800" dirty="0"/>
          </a:p>
        </p:txBody>
      </p:sp>
      <p:sp>
        <p:nvSpPr>
          <p:cNvPr id="5" name="Text 3"/>
          <p:cNvSpPr/>
          <p:nvPr/>
        </p:nvSpPr>
        <p:spPr>
          <a:xfrm>
            <a:off x="879231" y="229743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hlinkClick r:id="rId3"/>
              </a:rPr>
              <a:t>https://newbasic.streamlit.app/Irregular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Geoje Gohyeon Middle School · Grade 7 · Mixed-ability EFL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5245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Learner Benefits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gain from the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Feedback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wrong answer comes with the rule explained — no waiting for the teacher.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🎚️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776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Self-Paced Differentiation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works at their own level; Hard mode for advanced learners.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🔊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Pronunciation Awareness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-ed sounds become explicit and audible, not just text on a page.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8872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Self-Diagnosis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see which rules and sounds they need to review — metacognition built 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9776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a class leaderboard, and a personalized homework certificate.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keep practicing outside class via the HOMEWORK tab and review.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passive worksheet drills to active, self-directed learning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9260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Improvement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777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and next steps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4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030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quality varies; fake spellings (walkt/walkd/walkid) can sound unnatural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relies on honest input in a supervised setting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curated, not adaptive — fixed verb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 is recognition only, not speaking practice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TTS with recorded native-speaker audio for the 3 -ed sounds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speaking practice (record and compare own pronunciation)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leaderboard fully automatic (direct score capture)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 responding to each learner's mistakes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to track class progress and homework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one-classroom tool to a richer, adaptive learning environment — built one limitation at a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🦝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newbasic.streamlit.app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794</Words>
  <Application>Microsoft Office PowerPoint</Application>
  <PresentationFormat>화면 슬라이드 쇼(16:9)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Arial Unicode MS</vt:lpstr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 Form Learner</dc:title>
  <dc:subject>PptxGenJS Presentation</dc:subject>
  <dc:creator>PptxGenJS</dc:creator>
  <cp:lastModifiedBy>satang0531@gmail.com</cp:lastModifiedBy>
  <cp:revision>7</cp:revision>
  <dcterms:created xsi:type="dcterms:W3CDTF">2026-06-16T08:33:54Z</dcterms:created>
  <dcterms:modified xsi:type="dcterms:W3CDTF">2026-06-17T06:43:18Z</dcterms:modified>
</cp:coreProperties>
</file>