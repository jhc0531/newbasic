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97" r:id="rId5"/>
    <p:sldId id="271" r:id="rId6"/>
    <p:sldId id="262" r:id="rId7"/>
    <p:sldId id="263" r:id="rId8"/>
    <p:sldId id="270" r:id="rId9"/>
    <p:sldId id="296" r:id="rId10"/>
    <p:sldId id="294" r:id="rId11"/>
    <p:sldId id="272" r:id="rId12"/>
    <p:sldId id="274" r:id="rId13"/>
    <p:sldId id="279" r:id="rId14"/>
    <p:sldId id="280" r:id="rId15"/>
    <p:sldId id="281" r:id="rId16"/>
    <p:sldId id="282" r:id="rId17"/>
    <p:sldId id="283" r:id="rId18"/>
    <p:sldId id="275" r:id="rId19"/>
    <p:sldId id="276" r:id="rId20"/>
    <p:sldId id="290" r:id="rId21"/>
    <p:sldId id="288" r:id="rId22"/>
    <p:sldId id="277" r:id="rId24"/>
    <p:sldId id="286" r:id="rId25"/>
    <p:sldId id="287" r:id="rId26"/>
    <p:sldId id="293" r:id="rId27"/>
    <p:sldId id="258" r:id="rId28"/>
    <p:sldId id="295" r:id="rId29"/>
    <p:sldId id="278" r:id="rId30"/>
    <p:sldId id="267" r:id="rId31"/>
    <p:sldId id="291" r:id="rId32"/>
    <p:sldId id="292" r:id="rId33"/>
    <p:sldId id="264" r:id="rId34"/>
    <p:sldId id="285" r:id="rId3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52" d="100"/>
          <a:sy n="52" d="100"/>
        </p:scale>
        <p:origin x="84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4AA31-6674-48B7-AF83-15F577125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5F0ED4-D8B7-4901-AE62-6E3A45874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17BE0B-8ED0-4E10-8DCD-0E499FF0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F938A-7193-4C19-ACD9-FD3673DD4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B1F400-527E-4055-9D0E-B337B950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28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0AAB4-9FD2-4E7B-90CA-0E5BF636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C314B9-C65E-43D1-9362-C381BE272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DE698-AFAB-4CCE-91CF-B737D2D9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496D1-AE78-47EE-92C6-EB2CBFE2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3336BE-375C-4587-AA65-0C9A5931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77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82CCF-835B-4264-9DA4-76776D37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7F92EC-75C3-40CB-B1EE-A7DD4A22C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4682E-0129-4F7A-A12C-932389A3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E85A9-5866-459D-B7FC-65E51E5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4B00FB-ECEF-4845-B6B6-02E47381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56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CD536-0726-4516-BB1A-440B6E28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63158A-D9C5-46F1-9928-C8721BD12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43BA83-A406-4F76-AA24-59BAC2276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D2B2EF-B886-4777-A5DF-1DC44618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2386AF-B81C-408D-9E53-ED9DF828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70B07A-BF53-4427-A25B-FB3D5397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82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6CD28-6FC5-48A7-A335-5E497EF7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63FE85-2FB1-4CA2-8305-66D877859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4D718F-CDF2-4EAC-9625-9FCFB5191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C6E1F4-0E03-4FB9-9310-9D1F77416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0E7F3D-17D1-44A3-98A8-1D44375E6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E467C8-8142-4137-AECB-9275CA6A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BCE096-6E32-4E66-BC21-B87C31B5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480CAF-FDFE-47E6-8BC0-CAB5340D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74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CD7F4-5095-479F-93AD-20D107FA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96BC52-44B0-4F78-B16B-47D443B3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A8C50-8EFE-48EE-AAB2-63F57D28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7C853E-D71B-4A4E-891F-DD2E6D04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16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0D6B9D-D359-4A15-AF64-C22F0A8A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6A5FD3-61F5-460C-A041-EB78CFDE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B2979F-FA49-4778-B5E8-8B0C3FFE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669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2B61B-0C16-4981-89AC-05C99BFA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5249A5-753F-4DD9-B30A-EEF7722E2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A5F67C-FF38-4E3F-A5D5-A04E386B6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5F167E-BD35-4403-B3D4-C8DC0237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7A6163-C27B-47F6-9DCA-DDC34FED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C01F56-D0B0-469A-AC8A-EC8E76FB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30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4703B-D75B-4816-A883-069CC212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892D09-6842-452F-BC03-D56CB309F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6A2D8C-6134-4B2E-89E1-21FFC7045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EDF385-8158-4C6E-9F39-EE62E8CC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D54E7A-00B6-4769-8949-9F107EAF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61E615-7047-40B1-BC19-EBAB0869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764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60E1D-58E4-4222-BAA6-704D8A1D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B5CADA-7E80-44CE-995E-94AC31BC1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E7EDF-7429-4F06-8A8D-EEBB0563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DC90F0-87ED-4CC4-8E26-5EF9971D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24D88-18BA-468E-911F-0527830A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03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EB89CE-AD0C-4218-A1B4-0C5CD68B0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582833-9109-40D2-8F06-45F6F469D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D02741-23D0-4B76-92E8-039C1E23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C11E25-7684-449C-A6B0-640D1CF1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E70A0F-8502-4720-9F32-2F7C003F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78179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A94971-D387-48EC-B22A-1FFFF68B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7A19B1-134E-4B4B-96CF-8C74286E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8B5D1-074B-4A0C-A989-732788418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0519D-2173-496C-9D92-7BB611C36C4D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C40E2-3101-4CBB-B469-7F9244D24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0B5BE8-3D01-4453-B4AD-B32D34980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3CEE0-F1E2-45D5-B358-2B508EED7A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56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874B5-C9C2-4B75-A7DE-76E1E569B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1190" y="2292083"/>
            <a:ext cx="9144000" cy="90831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Literature 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1961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5CD99-6E2C-4409-830E-BD4F49975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017" y="203178"/>
            <a:ext cx="12089080" cy="1325563"/>
          </a:xfrm>
        </p:spPr>
        <p:txBody>
          <a:bodyPr>
            <a:noAutofit/>
          </a:bodyPr>
          <a:lstStyle/>
          <a:p>
            <a:r>
              <a:rPr lang="en-US" altLang="ko-KR" sz="3200" b="1" dirty="0"/>
              <a:t>Self-Regulated Learning is Essential for Mobile Learning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D32EA9-D748-4E1D-8B5F-DA075F9B0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30" y="1528741"/>
            <a:ext cx="12038610" cy="524613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"SRL is a key predictor of success in mobile learning environments."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"Learners with higher SRL demonstrate greater engagement and better learning outcomes."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"Mobile learning requires learners to take greater responsibility for managing their own learning.“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Implication:</a:t>
            </a:r>
            <a:br>
              <a:rPr lang="en-US" altLang="ko-KR" dirty="0"/>
            </a:br>
            <a:r>
              <a:rPr lang="en-US" altLang="ko-KR" u="sng" dirty="0"/>
              <a:t>Low-SRL learners may struggle in app-based English learning.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(</a:t>
            </a:r>
            <a:r>
              <a:rPr lang="en-US" altLang="ko-KR" dirty="0" err="1"/>
              <a:t>Palalas</a:t>
            </a:r>
            <a:r>
              <a:rPr lang="en-US" altLang="ko-KR" dirty="0"/>
              <a:t xml:space="preserve"> &amp; Wark,2020)</a:t>
            </a:r>
          </a:p>
        </p:txBody>
      </p:sp>
    </p:spTree>
    <p:extLst>
      <p:ext uri="{BB962C8B-B14F-4D97-AF65-F5344CB8AC3E}">
        <p14:creationId xmlns:p14="http://schemas.microsoft.com/office/powerpoint/2010/main" val="293194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BFD99-4FC6-494A-9553-A59AF516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23" y="198551"/>
            <a:ext cx="12076216" cy="1276432"/>
          </a:xfrm>
        </p:spPr>
        <p:txBody>
          <a:bodyPr>
            <a:noAutofit/>
          </a:bodyPr>
          <a:lstStyle/>
          <a:p>
            <a:r>
              <a:rPr lang="en-US" altLang="ko-KR" sz="3200" b="1" dirty="0"/>
              <a:t>Technology Alone Does Not Ensure Engagement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163EA-9B42-4405-A619-836307295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" y="1635619"/>
            <a:ext cx="11999026" cy="51630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/>
              <a:t>"Technology alone does not guarantee student engagement."</a:t>
            </a:r>
          </a:p>
          <a:p>
            <a:pPr>
              <a:lnSpc>
                <a:spcPct val="100000"/>
              </a:lnSpc>
            </a:pPr>
            <a:r>
              <a:rPr lang="en-US" altLang="ko-KR" dirty="0"/>
              <a:t>"Teacher feedback, interaction, and emotional support play important roles in promoting engagement."</a:t>
            </a:r>
          </a:p>
          <a:p>
            <a:pPr>
              <a:lnSpc>
                <a:spcPct val="100000"/>
              </a:lnSpc>
            </a:pPr>
            <a:r>
              <a:rPr lang="en-US" altLang="ko-KR" dirty="0"/>
              <a:t>"A human-centered approach is more effective than a technology-centered approach."</a:t>
            </a:r>
          </a:p>
          <a:p>
            <a:pPr>
              <a:lnSpc>
                <a:spcPct val="100000"/>
              </a:lnSpc>
            </a:pPr>
            <a:r>
              <a:rPr lang="en-US" altLang="ko-KR" dirty="0"/>
              <a:t xml:space="preserve">Implication: </a:t>
            </a:r>
            <a:r>
              <a:rPr lang="en-US" altLang="ko-KR" u="sng" dirty="0"/>
              <a:t>Teacher support should be considered alongside technology use not treated as secondary.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(Bond et al.,2020)</a:t>
            </a:r>
          </a:p>
        </p:txBody>
      </p:sp>
    </p:spTree>
    <p:extLst>
      <p:ext uri="{BB962C8B-B14F-4D97-AF65-F5344CB8AC3E}">
        <p14:creationId xmlns:p14="http://schemas.microsoft.com/office/powerpoint/2010/main" val="3606710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744" y="167552"/>
            <a:ext cx="11882520" cy="1325563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Why Teacher Support Matters</a:t>
            </a:r>
            <a:endParaRPr lang="ko-KR" altLang="en-US" sz="32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C8859-DC67-4E1D-BEDF-5BEA7FF7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81200"/>
            <a:ext cx="9906000" cy="3429000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ko-KR" sz="3200" i="1" dirty="0"/>
              <a:t>Learners who lack SRL are precisely those least served by technology alone—pointing to teacher support as a potential compensatory mechanism.</a:t>
            </a:r>
            <a:endParaRPr lang="ko-KR" alt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28788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C9EAA-C61F-4D2F-B977-03130EA7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44" y="167552"/>
            <a:ext cx="11882520" cy="1325563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Teacher Support Promotes Motivation and Engagement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B4E2B8-6248-457F-AEF8-75E614BA7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4" y="1320121"/>
            <a:ext cx="11672455" cy="5246131"/>
          </a:xfrm>
        </p:spPr>
        <p:txBody>
          <a:bodyPr>
            <a:noAutofit/>
          </a:bodyPr>
          <a:lstStyle/>
          <a:p>
            <a:r>
              <a:rPr lang="en-US" altLang="ko-KR" sz="2400" dirty="0"/>
              <a:t>Students are more motivated and engaged when teachers support: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Autonomy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Competence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Relatedness</a:t>
            </a:r>
          </a:p>
          <a:p>
            <a:r>
              <a:rPr lang="en-US" altLang="ko-KR" sz="2400" dirty="0"/>
              <a:t>Teacher support promotes: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Autonomous motivation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Engagement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Academic achievement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/>
              <a:t>Well-being</a:t>
            </a:r>
          </a:p>
          <a:p>
            <a:r>
              <a:rPr lang="en-US" altLang="ko-KR" sz="2400" dirty="0"/>
              <a:t>Implication:  Teacher support may increase learners' engagement with English learning apps.</a:t>
            </a:r>
          </a:p>
          <a:p>
            <a:pPr marL="0" indent="0">
              <a:buNone/>
            </a:pPr>
            <a:r>
              <a:rPr lang="en-US" altLang="ko-KR" sz="2400" dirty="0"/>
              <a:t>(Ryan &amp; Deci, 2020)</a:t>
            </a:r>
          </a:p>
        </p:txBody>
      </p:sp>
    </p:spTree>
    <p:extLst>
      <p:ext uri="{BB962C8B-B14F-4D97-AF65-F5344CB8AC3E}">
        <p14:creationId xmlns:p14="http://schemas.microsoft.com/office/powerpoint/2010/main" val="92950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B96DC-C3DF-4FBE-88A0-4415473B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17" y="287935"/>
            <a:ext cx="11832773" cy="1325563"/>
          </a:xfrm>
        </p:spPr>
        <p:txBody>
          <a:bodyPr>
            <a:noAutofit/>
          </a:bodyPr>
          <a:lstStyle/>
          <a:p>
            <a:r>
              <a:rPr lang="en-US" altLang="ko-KR" sz="3200" b="1" dirty="0"/>
              <a:t>Teacher Support Enhances Self-Regulated Learning</a:t>
            </a:r>
            <a:br>
              <a:rPr lang="en-US" altLang="ko-KR" sz="3200" dirty="0"/>
            </a:b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119423-CD5F-4DE0-98F0-49E11A4A3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2493"/>
            <a:ext cx="11832773" cy="51036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/>
              <a:t xml:space="preserve">Teacher support positively predicts self-efficacy.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/>
              <a:t xml:space="preserve">Teacher support positively predicts SRL.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/>
              <a:t xml:space="preserve">Self-efficacy partially mediates the relationship between teacher support and SRL. </a:t>
            </a:r>
          </a:p>
          <a:p>
            <a:pPr>
              <a:lnSpc>
                <a:spcPct val="100000"/>
              </a:lnSpc>
            </a:pPr>
            <a:r>
              <a:rPr lang="en-US" altLang="ko-KR" sz="3200" b="1" dirty="0"/>
              <a:t>Teacher Support → Self-Efficacy → SRL</a:t>
            </a:r>
            <a:endParaRPr lang="en-US" altLang="ko-KR" sz="3200" dirty="0"/>
          </a:p>
          <a:p>
            <a:pPr>
              <a:lnSpc>
                <a:spcPct val="100000"/>
              </a:lnSpc>
            </a:pPr>
            <a:r>
              <a:rPr lang="en-US" altLang="ko-KR" sz="3200" b="1" dirty="0"/>
              <a:t>Implication:</a:t>
            </a:r>
            <a:r>
              <a:rPr lang="en-US" altLang="ko-KR" sz="3200" dirty="0"/>
              <a:t xml:space="preserve"> Teacher support may strengthen learners' self-regulatory capacity.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i="1" dirty="0"/>
              <a:t>(Rui &amp; Liu, 2023)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659303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9D8FD-3FD8-48BA-A83F-25D6EB73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33" y="454190"/>
            <a:ext cx="11773396" cy="1325563"/>
          </a:xfrm>
        </p:spPr>
        <p:txBody>
          <a:bodyPr>
            <a:noAutofit/>
          </a:bodyPr>
          <a:lstStyle/>
          <a:p>
            <a:r>
              <a:rPr lang="en-US" altLang="ko-KR" sz="3200" b="1" dirty="0"/>
              <a:t>Teacher Support May Compensate for Low SRL</a:t>
            </a:r>
            <a:br>
              <a:rPr lang="en-US" altLang="ko-KR" sz="3200" dirty="0"/>
            </a:b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BD1030-1F11-4A88-BBF1-183500D38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50" y="1779753"/>
            <a:ext cx="11915899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5400" dirty="0"/>
              <a:t xml:space="preserve">Teacher support promotes growth mindset and grit.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5400" dirty="0"/>
              <a:t xml:space="preserve">Growth mindset and grit contribute to stronger SRL behaviors. </a:t>
            </a:r>
          </a:p>
          <a:p>
            <a:pPr>
              <a:lnSpc>
                <a:spcPct val="120000"/>
              </a:lnSpc>
            </a:pPr>
            <a:r>
              <a:rPr lang="en-US" altLang="ko-KR" sz="5400" b="1" dirty="0"/>
              <a:t>Teacher Support → Growth Mindset → Grit → SRL</a:t>
            </a:r>
            <a:endParaRPr lang="en-US" altLang="ko-KR" sz="5400" dirty="0"/>
          </a:p>
          <a:p>
            <a:pPr>
              <a:lnSpc>
                <a:spcPct val="120000"/>
              </a:lnSpc>
            </a:pPr>
            <a:r>
              <a:rPr lang="en-US" altLang="ko-KR" sz="5400" b="1" dirty="0"/>
              <a:t>Implication:</a:t>
            </a:r>
            <a:r>
              <a:rPr lang="en-US" altLang="ko-KR" sz="5400" dirty="0"/>
              <a:t xml:space="preserve"> Teacher support may play a compensatory role for learners with lower SRL.</a:t>
            </a:r>
          </a:p>
          <a:p>
            <a:endParaRPr lang="en-US" altLang="ko-KR" sz="5400" dirty="0"/>
          </a:p>
          <a:p>
            <a:pPr marL="0" indent="0">
              <a:buNone/>
            </a:pPr>
            <a:r>
              <a:rPr lang="en-US" altLang="ko-KR" sz="5400" i="1" dirty="0"/>
              <a:t>(Zhang et al.,2025)</a:t>
            </a:r>
            <a:endParaRPr lang="en-US" altLang="ko-KR" sz="5400" dirty="0"/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8931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F6AB7-DA74-48A7-97CE-BA6A343C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77" y="274431"/>
            <a:ext cx="11927776" cy="1325563"/>
          </a:xfrm>
        </p:spPr>
        <p:txBody>
          <a:bodyPr>
            <a:noAutofit/>
          </a:bodyPr>
          <a:lstStyle/>
          <a:p>
            <a:r>
              <a:rPr lang="en-US" altLang="ko-KR" sz="2800" b="1" dirty="0"/>
              <a:t>Low-SRL Learners Need Scaffolding</a:t>
            </a:r>
            <a:br>
              <a:rPr lang="en-US" altLang="ko-KR" sz="2800" dirty="0"/>
            </a:b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BC207-7387-4C06-8162-3FF8D3C2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3" y="1504992"/>
            <a:ext cx="11880275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Many learners struggle to regulate their learning independently.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Adaptive scaffolding supports planning, monitoring, and strategy use.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External support can improve learners' self-regulatory processes. </a:t>
            </a:r>
          </a:p>
          <a:p>
            <a:r>
              <a:rPr lang="en-US" altLang="ko-KR" b="1" dirty="0"/>
              <a:t>Implication:</a:t>
            </a:r>
            <a:r>
              <a:rPr lang="en-US" altLang="ko-KR" dirty="0"/>
              <a:t xml:space="preserve"> Teacher support can function as scaffolding in app-based learning environments.</a:t>
            </a:r>
          </a:p>
          <a:p>
            <a:pPr marL="0" indent="0">
              <a:buNone/>
            </a:pPr>
            <a:r>
              <a:rPr lang="en-US" altLang="ko-KR" i="1" dirty="0"/>
              <a:t>(Greene et</a:t>
            </a:r>
            <a:r>
              <a:rPr lang="ko-KR" altLang="en-US" i="1" dirty="0"/>
              <a:t xml:space="preserve"> </a:t>
            </a:r>
            <a:r>
              <a:rPr lang="en-US" altLang="ko-KR" i="1" dirty="0"/>
              <a:t>al., 2011)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61674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455FC-BF2B-44D7-98BA-E943D255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Kind of Teacher Support Matters Most?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B9BB3A-61C1-4264-BFE0-773B50668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Teachers' answering of students' questions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Acknowledging students' confidence </a:t>
            </a:r>
          </a:p>
          <a:p>
            <a:r>
              <a:rPr lang="en-US" altLang="ko-KR" dirty="0"/>
              <a:t>These teacher behaviors were the strongest predictors of SRL.</a:t>
            </a:r>
          </a:p>
          <a:p>
            <a:endParaRPr lang="en-US" altLang="ko-KR" dirty="0"/>
          </a:p>
          <a:p>
            <a:r>
              <a:rPr lang="en-US" altLang="ko-KR" b="1" dirty="0"/>
              <a:t>Implication:</a:t>
            </a:r>
            <a:r>
              <a:rPr lang="en-US" altLang="ko-KR" dirty="0"/>
              <a:t xml:space="preserve"> Effective teacher support should include feedback, encouragement, and opportunities to seek help.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i="1" dirty="0"/>
              <a:t>(</a:t>
            </a:r>
            <a:r>
              <a:rPr lang="en-US" altLang="ko-KR" i="1" dirty="0" err="1"/>
              <a:t>Abdulhay</a:t>
            </a:r>
            <a:r>
              <a:rPr lang="en-US" altLang="ko-KR" i="1" dirty="0"/>
              <a:t xml:space="preserve"> et al.,2016)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871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8DCEA-10A6-43BE-AA24-FDD2ADF0A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374" y="164155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 xml:space="preserve">24 items for English learners’ online self-regulation were adapted from Online Self-regulated Learning Questionnaire (OSLQ) designed by Barnard et al. (2009). </a:t>
            </a:r>
          </a:p>
          <a:p>
            <a:r>
              <a:rPr lang="en-US" altLang="ko-KR" dirty="0"/>
              <a:t xml:space="preserve">The questionnaire items were changed slightly by adding “English” to suit online English learners. </a:t>
            </a:r>
          </a:p>
          <a:p>
            <a:r>
              <a:rPr lang="en-US" altLang="ko-KR" dirty="0"/>
              <a:t xml:space="preserve">All items are rated on a five-point Likert-type items, from 1 (I don’t agree at all) to 5 (I strongly agree). </a:t>
            </a:r>
          </a:p>
          <a:p>
            <a:r>
              <a:rPr lang="en-US" altLang="ko-KR" dirty="0"/>
              <a:t>The data in the present study showed that Online self-regulated English learning (OSEL) has a desirable reliability (Cronbach’ s alpha=0.955)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E0675A2-3BE8-488C-B84C-4F9D6550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97" y="234497"/>
            <a:ext cx="10515600" cy="1325563"/>
          </a:xfrm>
        </p:spPr>
        <p:txBody>
          <a:bodyPr/>
          <a:lstStyle/>
          <a:p>
            <a:r>
              <a:rPr lang="en-US" altLang="ko-KR" b="1" dirty="0"/>
              <a:t>Source of the SRL Questionnaire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3910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4C61E-8C4F-4EF3-BAA1-B733306BF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97" y="234497"/>
            <a:ext cx="10515600" cy="1325563"/>
          </a:xfrm>
        </p:spPr>
        <p:txBody>
          <a:bodyPr/>
          <a:lstStyle/>
          <a:p>
            <a:r>
              <a:rPr lang="en-US" altLang="ko-KR" b="1" dirty="0"/>
              <a:t>Source of the SRL Questionnaire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3743B-34E1-4327-B9D9-02D7AA59D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97" y="1504991"/>
            <a:ext cx="1148245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Online Self-Regulated Learning Questionnaire (OSLQ)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&lt;Original Dimensions&gt;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Goal Setting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Environment Structuring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Time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Help Seeking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Task Strategies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Self-Evaluation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263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BB61-EA2F-4CFE-A56A-530A1AA5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21681"/>
            <a:ext cx="11984182" cy="1325563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Self-Regulated Learning Questionnaire (15 Items)</a:t>
            </a:r>
            <a:endParaRPr lang="ko-KR" altLang="en-US" sz="3600" b="1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248C333-FE0D-4EA4-854E-0BBAEBEC9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4660"/>
          <a:stretch/>
        </p:blipFill>
        <p:spPr>
          <a:xfrm>
            <a:off x="389888" y="1370054"/>
            <a:ext cx="5487478" cy="4816990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5D70B83-304D-4F07-9D4D-9006E00221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6277" r="-2782"/>
          <a:stretch/>
        </p:blipFill>
        <p:spPr>
          <a:xfrm>
            <a:off x="6059436" y="1882239"/>
            <a:ext cx="6018934" cy="406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0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BB61-EA2F-4CFE-A56A-530A1AA5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21681"/>
            <a:ext cx="11984182" cy="1325563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Self-Regulated Learning Questionnaire (15 Items)</a:t>
            </a:r>
            <a:endParaRPr lang="ko-KR" altLang="en-US" sz="3600" b="1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D354448-E269-4F73-A8A9-B9AE8E72B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87" y="1119042"/>
            <a:ext cx="7180164" cy="547060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032D61-BAD8-420F-A6B7-7FD12508A1AD}"/>
              </a:ext>
            </a:extLst>
          </p:cNvPr>
          <p:cNvSpPr txBox="1"/>
          <p:nvPr/>
        </p:nvSpPr>
        <p:spPr>
          <a:xfrm>
            <a:off x="9158288" y="3300413"/>
            <a:ext cx="241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목표 설정 능력</a:t>
            </a:r>
          </a:p>
        </p:txBody>
      </p:sp>
    </p:spTree>
    <p:extLst>
      <p:ext uri="{BB962C8B-B14F-4D97-AF65-F5344CB8AC3E}">
        <p14:creationId xmlns:p14="http://schemas.microsoft.com/office/powerpoint/2010/main" val="3939642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BB61-EA2F-4CFE-A56A-530A1AA5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21681"/>
            <a:ext cx="11984182" cy="1325563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Self-Regulated Learning Questionnaire (15 Items)</a:t>
            </a:r>
            <a:endParaRPr lang="ko-KR" altLang="en-US" sz="3600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9E976EC-69DF-4A54-8D59-4CE3FDB92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86" y="1380301"/>
            <a:ext cx="7200607" cy="54697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26FD59-5A2D-4C75-8558-13A6994D092A}"/>
              </a:ext>
            </a:extLst>
          </p:cNvPr>
          <p:cNvSpPr txBox="1"/>
          <p:nvPr/>
        </p:nvSpPr>
        <p:spPr>
          <a:xfrm>
            <a:off x="9158288" y="3300413"/>
            <a:ext cx="241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시간 관리 능력</a:t>
            </a:r>
          </a:p>
        </p:txBody>
      </p:sp>
    </p:spTree>
    <p:extLst>
      <p:ext uri="{BB962C8B-B14F-4D97-AF65-F5344CB8AC3E}">
        <p14:creationId xmlns:p14="http://schemas.microsoft.com/office/powerpoint/2010/main" val="214361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BB61-EA2F-4CFE-A56A-530A1AA5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21681"/>
            <a:ext cx="11984182" cy="1325563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Self-Regulated Learning Questionnaire (15 Items)</a:t>
            </a:r>
            <a:endParaRPr lang="ko-KR" altLang="en-US" sz="3600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042B8D4-3F72-4BFE-BF82-6624863F9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83" y="1297172"/>
            <a:ext cx="7142268" cy="53899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813754-C015-492C-BD6D-5915702E1A93}"/>
              </a:ext>
            </a:extLst>
          </p:cNvPr>
          <p:cNvSpPr txBox="1"/>
          <p:nvPr/>
        </p:nvSpPr>
        <p:spPr>
          <a:xfrm>
            <a:off x="9158288" y="3300413"/>
            <a:ext cx="241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환경 관리</a:t>
            </a:r>
          </a:p>
        </p:txBody>
      </p:sp>
    </p:spTree>
    <p:extLst>
      <p:ext uri="{BB962C8B-B14F-4D97-AF65-F5344CB8AC3E}">
        <p14:creationId xmlns:p14="http://schemas.microsoft.com/office/powerpoint/2010/main" val="2781166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BB61-EA2F-4CFE-A56A-530A1AA5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21681"/>
            <a:ext cx="11984182" cy="1325563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Self-Regulated Learning Questionnaire (15 Items)</a:t>
            </a:r>
            <a:endParaRPr lang="ko-KR" altLang="en-US" sz="3600" b="1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A85F486-B103-4B80-B458-C6058E2CD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10" y="1251302"/>
            <a:ext cx="7038369" cy="529518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F89ACC-8341-4277-8AE7-8DB3D2395733}"/>
              </a:ext>
            </a:extLst>
          </p:cNvPr>
          <p:cNvSpPr txBox="1"/>
          <p:nvPr/>
        </p:nvSpPr>
        <p:spPr>
          <a:xfrm>
            <a:off x="9158288" y="3300413"/>
            <a:ext cx="241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도움 요청 행동</a:t>
            </a:r>
          </a:p>
        </p:txBody>
      </p:sp>
    </p:spTree>
    <p:extLst>
      <p:ext uri="{BB962C8B-B14F-4D97-AF65-F5344CB8AC3E}">
        <p14:creationId xmlns:p14="http://schemas.microsoft.com/office/powerpoint/2010/main" val="1435094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BB61-EA2F-4CFE-A56A-530A1AA5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121681"/>
            <a:ext cx="11984182" cy="1325563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Self-Regulated Learning Questionnaire (15 Items)</a:t>
            </a:r>
            <a:endParaRPr lang="ko-KR" altLang="en-US" sz="3600" b="1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0860A94-5D69-46A9-8F1A-01DD7BB99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91" y="1314986"/>
            <a:ext cx="7069477" cy="541601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C9C2D-3E4F-4BA0-976E-E0E4E6D6E166}"/>
              </a:ext>
            </a:extLst>
          </p:cNvPr>
          <p:cNvSpPr txBox="1"/>
          <p:nvPr/>
        </p:nvSpPr>
        <p:spPr>
          <a:xfrm>
            <a:off x="8401050" y="3300413"/>
            <a:ext cx="3174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자기 성찰 및 자기 평가</a:t>
            </a:r>
          </a:p>
        </p:txBody>
      </p:sp>
    </p:spTree>
    <p:extLst>
      <p:ext uri="{BB962C8B-B14F-4D97-AF65-F5344CB8AC3E}">
        <p14:creationId xmlns:p14="http://schemas.microsoft.com/office/powerpoint/2010/main" val="193313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17D76-EB2B-4ADE-9003-0C99A835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Pilot Survey Results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371707-A53E-4E62-9416-75FF9E5B3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b="1" dirty="0"/>
              <a:t>Participants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 = 25 Korean middle school students</a:t>
            </a:r>
          </a:p>
          <a:p>
            <a:r>
              <a:rPr lang="en-US" altLang="ko-KR" b="1" dirty="0"/>
              <a:t>Purpose of the Pilot Survey</a:t>
            </a:r>
          </a:p>
          <a:p>
            <a:r>
              <a:rPr lang="en-US" altLang="ko-KR" dirty="0"/>
              <a:t>The pilot survey was conducted to examine students' levels of self-regulated learning (SRL) before implementing the intervention.</a:t>
            </a:r>
          </a:p>
          <a:p>
            <a:r>
              <a:rPr lang="en-US" altLang="ko-KR" dirty="0"/>
              <a:t>The findings were 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identify students with lower levels of SRL,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explore areas of weakness in self-regulation,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inform the design of teacher support strategies.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39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20B6CC-61FA-4F07-A667-35E97C1AE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116" y="751619"/>
            <a:ext cx="11737768" cy="5354761"/>
          </a:xfrm>
        </p:spPr>
        <p:txBody>
          <a:bodyPr>
            <a:normAutofit/>
          </a:bodyPr>
          <a:lstStyle/>
          <a:p>
            <a:r>
              <a:rPr lang="en-US" altLang="ko-KR" b="1" dirty="0"/>
              <a:t>Overall SRL Level  -Mean :3.63 / 5.00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-a moderate level of self-regulated learning overall.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 xml:space="preserve">✅ </a:t>
            </a:r>
            <a:r>
              <a:rPr lang="en-US" altLang="ko-KR" b="1" dirty="0"/>
              <a:t>Help Seeking</a:t>
            </a:r>
            <a:r>
              <a:rPr lang="en-US" altLang="ko-KR" dirty="0"/>
              <a:t xml:space="preserve"> was the strongest dimension.</a:t>
            </a:r>
          </a:p>
          <a:p>
            <a:pPr marL="0" indent="0">
              <a:buNone/>
            </a:pPr>
            <a:r>
              <a:rPr lang="en-US" altLang="ko-KR" dirty="0"/>
              <a:t xml:space="preserve">-Students were generally willing to seek help when facing difficulties. </a:t>
            </a:r>
          </a:p>
          <a:p>
            <a:pPr marL="0" indent="0">
              <a:buNone/>
            </a:pPr>
            <a:r>
              <a:rPr lang="en-US" altLang="ko-KR" dirty="0"/>
              <a:t xml:space="preserve">⚠ </a:t>
            </a:r>
            <a:r>
              <a:rPr lang="en-US" altLang="ko-KR" b="1" dirty="0"/>
              <a:t>Goal Setting</a:t>
            </a:r>
            <a:r>
              <a:rPr lang="en-US" altLang="ko-KR" dirty="0"/>
              <a:t xml:space="preserve"> was the weakest dimension.</a:t>
            </a:r>
          </a:p>
          <a:p>
            <a:pPr marL="0" indent="0">
              <a:buNone/>
            </a:pPr>
            <a:r>
              <a:rPr lang="en-US" altLang="ko-KR" dirty="0"/>
              <a:t xml:space="preserve">-Many students did not regularly establish learning goals before studying English. </a:t>
            </a:r>
          </a:p>
          <a:p>
            <a:pPr marL="0" indent="0">
              <a:buNone/>
            </a:pPr>
            <a:r>
              <a:rPr lang="en-US" altLang="ko-KR" dirty="0"/>
              <a:t>*This finding provides a rationale for examining whether teacher support can compensate for low levels of self-regulated learning in app-based English learning.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0766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53B31-726D-417D-A381-2D0DE4BAC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8549"/>
            <a:ext cx="10515600" cy="4351338"/>
          </a:xfrm>
        </p:spPr>
        <p:txBody>
          <a:bodyPr/>
          <a:lstStyle/>
          <a:p>
            <a:r>
              <a:rPr lang="en-US" altLang="ko-KR" dirty="0"/>
              <a:t>Students were classified as low- or high-SRL learners based on their overall SRL scores rather than a single dimension.</a:t>
            </a:r>
          </a:p>
          <a:p>
            <a:endParaRPr lang="en-US" altLang="ko-KR" dirty="0"/>
          </a:p>
          <a:p>
            <a:r>
              <a:rPr lang="en-US" altLang="ko-KR" dirty="0"/>
              <a:t>However, the pilot survey revealed that Goal Setting was the weakest SRL dimension. Therefore, the teacher-support intervention was designed to provide goal-setting guidance, progress monitoring, and feedback.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5831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744" y="167552"/>
            <a:ext cx="11882520" cy="1100000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Process vs. Content Scaffolding (Azevedo et al., 2011a)</a:t>
            </a:r>
            <a:endParaRPr lang="ko-KR" altLang="en-US" sz="28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5613" y="1500000"/>
            <a:ext cx="11280774" cy="5100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2200" b="1" dirty="0"/>
              <a:t>APS — Process Scaffolding</a:t>
            </a:r>
          </a:p>
          <a:p>
            <a:pPr marL="457200">
              <a:buNone/>
            </a:pPr>
            <a:r>
              <a:rPr lang="en-US" altLang="ko-KR" sz="1900" dirty="0"/>
              <a:t>Goal monitoring, strategy prompting, reflection</a:t>
            </a:r>
          </a:p>
          <a:p>
            <a:pPr>
              <a:buNone/>
            </a:pPr>
            <a:r>
              <a:rPr lang="en-US" altLang="ko-KR" sz="2200" b="1" dirty="0"/>
              <a:t>ACPS — Content + Process Scaffolding</a:t>
            </a:r>
          </a:p>
          <a:p>
            <a:pPr marL="457200">
              <a:buNone/>
            </a:pPr>
            <a:r>
              <a:rPr lang="en-US" altLang="ko-KR" sz="1900" dirty="0"/>
              <a:t>Prior-knowledge activation, content feedback, guidance</a:t>
            </a:r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r>
              <a:rPr lang="en-US" altLang="ko-KR" sz="2200" b="1" dirty="0"/>
              <a:t xml:space="preserve">Key finding: </a:t>
            </a:r>
            <a:r>
              <a:rPr lang="en-US" altLang="ko-KR" sz="2200" dirty="0"/>
              <a:t>process scaffolding led to greater use of SRL strategies and more self-monitoring.</a:t>
            </a:r>
          </a:p>
          <a:p>
            <a:pPr>
              <a:buNone/>
            </a:pPr>
            <a:endParaRPr lang="en-US" altLang="ko-KR" sz="1200" dirty="0"/>
          </a:p>
          <a:p>
            <a:pPr>
              <a:buNone/>
            </a:pPr>
            <a:r>
              <a:rPr lang="en-US" altLang="ko-KR" sz="2200" b="1" dirty="0"/>
              <a:t>→ This study therefore adopts process scaffolding: goal-setting, monitoring, and reflection prompts.</a:t>
            </a:r>
            <a:endParaRPr lang="ko-KR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079015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D424B-211B-472D-BD59-D8863D98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Implications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40DBF-FCD1-4A62-A9BB-BD20F289A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8" y="1396999"/>
            <a:ext cx="10977562" cy="476091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sz="2400" dirty="0"/>
              <a:t>The pilot results suggest that students may need support in: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400" dirty="0"/>
              <a:t xml:space="preserve">setting learning goals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400" dirty="0"/>
              <a:t xml:space="preserve">monitoring progress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400" dirty="0"/>
              <a:t xml:space="preserve">maintaining learning routines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en-US" altLang="ko-KR" sz="2400" dirty="0"/>
              <a:t>Therefore, the teacher-support intervention will focus on: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400" dirty="0"/>
              <a:t xml:space="preserve">Goal-setting prompts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400" dirty="0"/>
              <a:t xml:space="preserve">Progress monitoring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400" dirty="0"/>
              <a:t xml:space="preserve">Weekly feedback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400" dirty="0"/>
              <a:t>Reflection activities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70313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5D0414-AC81-4CAE-A54A-2EB64F2B8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2" y="14827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Teachers support SRL through…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goal setting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prompts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feedback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reflection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en-US" altLang="ko-KR" dirty="0" err="1"/>
              <a:t>Abdulhay</a:t>
            </a:r>
            <a:r>
              <a:rPr lang="en-US" altLang="ko-KR" dirty="0"/>
              <a:t xml:space="preserve"> et al.,2016)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592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9D9A8-EBC5-4526-9E06-53086B91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Teacher support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6C25D7E-8112-4DD4-862B-D9B57B886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468961"/>
              </p:ext>
            </p:extLst>
          </p:nvPr>
        </p:nvGraphicFramePr>
        <p:xfrm>
          <a:off x="242888" y="1825625"/>
          <a:ext cx="11658599" cy="4160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610">
                  <a:extLst>
                    <a:ext uri="{9D8B030D-6E8A-4147-A177-3AD203B41FA5}">
                      <a16:colId xmlns:a16="http://schemas.microsoft.com/office/drawing/2014/main" val="330806882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555613474"/>
                    </a:ext>
                  </a:extLst>
                </a:gridCol>
                <a:gridCol w="2123989">
                  <a:extLst>
                    <a:ext uri="{9D8B030D-6E8A-4147-A177-3AD203B41FA5}">
                      <a16:colId xmlns:a16="http://schemas.microsoft.com/office/drawing/2014/main" val="1663900021"/>
                    </a:ext>
                  </a:extLst>
                </a:gridCol>
                <a:gridCol w="2157908">
                  <a:extLst>
                    <a:ext uri="{9D8B030D-6E8A-4147-A177-3AD203B41FA5}">
                      <a16:colId xmlns:a16="http://schemas.microsoft.com/office/drawing/2014/main" val="242678659"/>
                    </a:ext>
                  </a:extLst>
                </a:gridCol>
                <a:gridCol w="2113410">
                  <a:extLst>
                    <a:ext uri="{9D8B030D-6E8A-4147-A177-3AD203B41FA5}">
                      <a16:colId xmlns:a16="http://schemas.microsoft.com/office/drawing/2014/main" val="4273805468"/>
                    </a:ext>
                  </a:extLst>
                </a:gridCol>
                <a:gridCol w="2205682">
                  <a:extLst>
                    <a:ext uri="{9D8B030D-6E8A-4147-A177-3AD203B41FA5}">
                      <a16:colId xmlns:a16="http://schemas.microsoft.com/office/drawing/2014/main" val="93888694"/>
                    </a:ext>
                  </a:extLst>
                </a:gridCol>
              </a:tblGrid>
              <a:tr h="58896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week1</a:t>
                      </a:r>
                      <a:endParaRPr lang="ko-KR" alt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week2</a:t>
                      </a:r>
                      <a:endParaRPr lang="ko-KR" alt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week3</a:t>
                      </a:r>
                      <a:endParaRPr lang="ko-KR" alt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week4</a:t>
                      </a:r>
                      <a:endParaRPr lang="ko-KR" alt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week5</a:t>
                      </a:r>
                      <a:endParaRPr lang="ko-KR" alt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658457"/>
                  </a:ext>
                </a:extLst>
              </a:tr>
              <a:tr h="814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Arial Black" panose="020B0A04020102020204" pitchFamily="34" charset="0"/>
                        </a:rPr>
                        <a:t>피드백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Goal-Setting prompts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Progress</a:t>
                      </a:r>
                    </a:p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 Support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Confidence building</a:t>
                      </a:r>
                    </a:p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feedback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 opportunities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Reflection Support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002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Arial Black" panose="020B0A04020102020204" pitchFamily="34" charset="0"/>
                        </a:rPr>
                        <a:t>예시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This week's goal: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at least 3 learning sessions.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personal goal: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_______________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many sessions have you completed so far?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 0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 1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 2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 3+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completed 4 sessions this week.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Great job!</a:t>
                      </a:r>
                    </a:p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 going!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is the most difficult part while studying English this week?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helped you study English this week?</a:t>
                      </a: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was difficult?</a:t>
                      </a:r>
                      <a:endParaRPr lang="ko-KR" alt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71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405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301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DEBBB4B-EBC7-46A8-BCCD-7350BA8B3D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447554"/>
              </p:ext>
            </p:extLst>
          </p:nvPr>
        </p:nvGraphicFramePr>
        <p:xfrm>
          <a:off x="755073" y="1332799"/>
          <a:ext cx="10515600" cy="36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167911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93724286"/>
                    </a:ext>
                  </a:extLst>
                </a:gridCol>
              </a:tblGrid>
              <a:tr h="610129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45033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 dirty="0"/>
                        <a:t>Goal 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Weekly goal-setting form(google form)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338188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 dirty="0"/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Mid-week progress check(google form)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2370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/>
                        <a:t>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Personalized feedback based on app logs</a:t>
                      </a:r>
                    </a:p>
                    <a:p>
                      <a:r>
                        <a:rPr lang="en-US" dirty="0"/>
                        <a:t>(app log</a:t>
                      </a:r>
                      <a:r>
                        <a:rPr lang="ko-KR" altLang="en-US" dirty="0"/>
                        <a:t xml:space="preserve">에 대한 </a:t>
                      </a:r>
                      <a:r>
                        <a:rPr lang="en-US" altLang="ko-KR" dirty="0"/>
                        <a:t>messages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136605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/>
                        <a:t>Question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Opportunity to ask questions(google form)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328938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/>
                        <a:t>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Weekly reflection form(google form)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071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621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81AF9-BEAD-493D-AD19-46F50BEA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47" y="838509"/>
            <a:ext cx="11132127" cy="1325563"/>
          </a:xfrm>
        </p:spPr>
        <p:txBody>
          <a:bodyPr>
            <a:noAutofit/>
          </a:bodyPr>
          <a:lstStyle/>
          <a:p>
            <a:r>
              <a:rPr lang="en-US" altLang="ko-KR" sz="2800" b="1" dirty="0"/>
              <a:t>Hwang et al. (2024)</a:t>
            </a:r>
            <a:br>
              <a:rPr lang="en-US" altLang="ko-KR" sz="2800" b="1" dirty="0"/>
            </a:br>
            <a:r>
              <a:rPr lang="en-US" altLang="ko-KR" sz="2800" b="1" dirty="0"/>
              <a:t>Acceptance and Engagement Patterns of Mobile-Assisted Language Learning Among Non-Conventional Adult L2 Learners: A Survival Analysis</a:t>
            </a:r>
            <a:br>
              <a:rPr lang="en-US" altLang="ko-KR" sz="2800" b="1" dirty="0"/>
            </a:br>
            <a:endParaRPr lang="ko-KR" altLang="en-US" sz="2800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F58D92-D96E-4296-9C25-98F2D1321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53" y="2419391"/>
            <a:ext cx="10515600" cy="4005160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examined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relying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solely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self-report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operationalized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(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Intensity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(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(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/>
              <a:t>Actual app-log data provide more objective evidence than self-report surveys.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606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53AA2-282F-46AF-A3D0-E58F2396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Measurement of App Engagement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CEAA8FA-97E5-4287-87F4-E59A2B15D1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645365"/>
              </p:ext>
            </p:extLst>
          </p:nvPr>
        </p:nvGraphicFramePr>
        <p:xfrm>
          <a:off x="838200" y="1825624"/>
          <a:ext cx="10515597" cy="3061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6686400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34805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52374564"/>
                    </a:ext>
                  </a:extLst>
                </a:gridCol>
              </a:tblGrid>
              <a:tr h="765268">
                <a:tc>
                  <a:txBody>
                    <a:bodyPr/>
                    <a:lstStyle/>
                    <a:p>
                      <a:r>
                        <a:rPr lang="en-US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ClassCard</a:t>
                      </a:r>
                      <a:r>
                        <a:rPr lang="en-US" altLang="ko-KR" dirty="0"/>
                        <a:t xml:space="preserve"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62749"/>
                  </a:ext>
                </a:extLst>
              </a:tr>
              <a:tr h="765268">
                <a:tc>
                  <a:txBody>
                    <a:bodyPr/>
                    <a:lstStyle/>
                    <a:p>
                      <a:r>
                        <a:rPr lang="en-US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learning sessions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Learning sessions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09431"/>
                  </a:ext>
                </a:extLst>
              </a:tr>
              <a:tr h="765268">
                <a:tc>
                  <a:txBody>
                    <a:bodyPr/>
                    <a:lstStyle/>
                    <a:p>
                      <a:r>
                        <a:rPr lang="en-US"/>
                        <a:t>Intensity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completed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Completed activities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084531"/>
                  </a:ext>
                </a:extLst>
              </a:tr>
              <a:tr h="765268">
                <a:tc>
                  <a:txBody>
                    <a:bodyPr/>
                    <a:lstStyle/>
                    <a:p>
                      <a:r>
                        <a:rPr lang="en-US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learning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Learning time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52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012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8A9E-E639-4D4D-B3CF-AA0A489CB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Transition to the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42B8D8-CA14-43E5-BD86-7890AC026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The pilot survey revealed that students demonstrated relatively low levels of goal-setting behaviors.</a:t>
            </a:r>
          </a:p>
          <a:p>
            <a:pPr>
              <a:lnSpc>
                <a:spcPct val="100000"/>
              </a:lnSpc>
            </a:pPr>
            <a:r>
              <a:rPr lang="en-US" altLang="ko-KR" dirty="0"/>
              <a:t>Therefore, providing teacher support may help students regulate their learning more effectively when using English learning apps.</a:t>
            </a:r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2802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64831-ED62-4951-8BD1-54886A5B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8928"/>
            <a:ext cx="10515600" cy="1325563"/>
          </a:xfrm>
        </p:spPr>
        <p:txBody>
          <a:bodyPr/>
          <a:lstStyle/>
          <a:p>
            <a:pPr algn="ctr"/>
            <a:r>
              <a:rPr lang="en-US" altLang="ko-KR" b="1" dirty="0"/>
              <a:t>Research Gap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94602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62DEB-B5A7-40FC-A397-6286261C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We Do Not Know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76138-3C0A-4A8E-9E55-212809625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18" y="2086882"/>
            <a:ext cx="10515600" cy="3637024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✗ Few studies have examined middle school EFL learners.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✗ Few studies have used actual app-log data.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✗ The compensatory role of teacher support remains unclear.</a:t>
            </a:r>
          </a:p>
        </p:txBody>
      </p:sp>
    </p:spTree>
    <p:extLst>
      <p:ext uri="{BB962C8B-B14F-4D97-AF65-F5344CB8AC3E}">
        <p14:creationId xmlns:p14="http://schemas.microsoft.com/office/powerpoint/2010/main" val="8859426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B8AF5-F642-482E-BBAA-A40B8D67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Questions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DD259-801B-43CE-8F51-51239F05D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758" y="19621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RQ1</a:t>
            </a:r>
          </a:p>
          <a:p>
            <a:r>
              <a:rPr lang="en-US" altLang="ko-KR" dirty="0"/>
              <a:t>Can teacher support compensate for low levels of self-regulated learning in app-based English learning?</a:t>
            </a:r>
          </a:p>
          <a:p>
            <a:pPr marL="0" indent="0">
              <a:buNone/>
            </a:pPr>
            <a:r>
              <a:rPr lang="en-US" altLang="ko-KR" dirty="0"/>
              <a:t>RQ2</a:t>
            </a:r>
          </a:p>
          <a:p>
            <a:r>
              <a:rPr lang="en-US" altLang="ko-KR" dirty="0"/>
              <a:t>Which dimension of self-regulated learning is most strongly associated with sustained app engagement?</a:t>
            </a:r>
          </a:p>
          <a:p>
            <a:pPr marL="0" indent="0">
              <a:buNone/>
            </a:pPr>
            <a:r>
              <a:rPr lang="en-US" altLang="ko-KR" dirty="0"/>
              <a:t>RQ3</a:t>
            </a:r>
          </a:p>
          <a:p>
            <a:r>
              <a:rPr lang="en-US" altLang="ko-KR" dirty="0"/>
              <a:t>Does teacher support matter more for low-SRL learners than for high-SRL learners?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6248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9C19C-954D-4002-A253-C4B69AE9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Expected Contribution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6654B0-3F41-4750-B415-2C8EC158F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b="1" dirty="0"/>
              <a:t>Theoretical Contribution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Extend SRL research in mobile-assisted language learning (MALL).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Examine the compensatory role of teacher support. </a:t>
            </a:r>
          </a:p>
          <a:p>
            <a:pPr>
              <a:lnSpc>
                <a:spcPct val="100000"/>
              </a:lnSpc>
            </a:pPr>
            <a:r>
              <a:rPr lang="en-US" altLang="ko-KR" b="1" dirty="0"/>
              <a:t>Practical Contribution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Provide evidence for supporting low-SRL learners.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Offer guidance for effective app-based English instruction. </a:t>
            </a:r>
          </a:p>
          <a:p>
            <a:pPr>
              <a:lnSpc>
                <a:spcPct val="100000"/>
              </a:lnSpc>
            </a:pPr>
            <a:r>
              <a:rPr lang="en-US" altLang="ko-KR" b="1" dirty="0"/>
              <a:t>Methodological Contribution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 xml:space="preserve">Use actual app log data rather than self-report measures.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Investigate engagement in a middle school EFL context.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4265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15013-5B7A-48D6-A100-2018D715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40571A-1436-41E7-B160-093DBE472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err="1"/>
              <a:t>Palalas</a:t>
            </a:r>
            <a:r>
              <a:rPr lang="en-US" altLang="ko-KR" b="1" dirty="0"/>
              <a:t xml:space="preserve"> &amp; </a:t>
            </a:r>
            <a:r>
              <a:rPr lang="en-US" altLang="ko-KR" b="1" dirty="0" err="1"/>
              <a:t>Wark</a:t>
            </a:r>
            <a:r>
              <a:rPr lang="en-US" altLang="ko-KR" b="1" dirty="0"/>
              <a:t xml:space="preserve"> (2020)</a:t>
            </a:r>
            <a:r>
              <a:rPr lang="en-US" altLang="ko-KR" dirty="0"/>
              <a:t xml:space="preserve"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Bond et al. (2020)</a:t>
            </a:r>
            <a:r>
              <a:rPr lang="en-US" altLang="ko-KR" dirty="0"/>
              <a:t xml:space="preserve"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Ryan &amp; Deci (2020)</a:t>
            </a:r>
            <a:r>
              <a:rPr lang="en-US" altLang="ko-KR" dirty="0"/>
              <a:t xml:space="preserve"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Rui &amp; Liu (2023)</a:t>
            </a:r>
            <a:r>
              <a:rPr lang="en-US" altLang="ko-KR" dirty="0"/>
              <a:t xml:space="preserve"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altLang="ko-KR" b="1" dirty="0"/>
              <a:t xml:space="preserve">Greene et al.(2011),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altLang="ko-KR" b="1" dirty="0"/>
              <a:t>Abdulhay et al.(2016),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altLang="ko-KR" b="1" dirty="0"/>
              <a:t>Azevedo et al. (2011a)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altLang="ko-KR" b="1" dirty="0"/>
              <a:t>Barnard et al. (2009)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altLang="ko-KR" b="1" dirty="0"/>
              <a:t>Hwang et al.(2024)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Zhang et al. (2025)</a:t>
            </a:r>
            <a:r>
              <a:rPr lang="en-US" altLang="ko-KR" dirty="0"/>
              <a:t xml:space="preserve">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181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1516</Words>
  <Application>Microsoft Office PowerPoint</Application>
  <PresentationFormat>와이드스크린</PresentationFormat>
  <Paragraphs>242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맑은 고딕</vt:lpstr>
      <vt:lpstr>Arial</vt:lpstr>
      <vt:lpstr>Arial Black</vt:lpstr>
      <vt:lpstr>Office 테마</vt:lpstr>
      <vt:lpstr>Literature Review</vt:lpstr>
      <vt:lpstr>Self-Regulated Learning is Essential for Mobile Learning</vt:lpstr>
      <vt:lpstr>Technology Alone Does Not Ensure Engagement</vt:lpstr>
      <vt:lpstr>PowerPoint 프레젠테이션</vt:lpstr>
      <vt:lpstr>Teacher Support Promotes Motivation and Engagement</vt:lpstr>
      <vt:lpstr>Teacher Support Enhances Self-Regulated Learning </vt:lpstr>
      <vt:lpstr>Teacher Support May Compensate for Low SRL </vt:lpstr>
      <vt:lpstr>Low-SRL Learners Need Scaffolding </vt:lpstr>
      <vt:lpstr>What Kind of Teacher Support Matters Most?</vt:lpstr>
      <vt:lpstr>Source of the SRL Questionnaire</vt:lpstr>
      <vt:lpstr>Source of the SRL Questionnaire</vt:lpstr>
      <vt:lpstr>Self-Regulated Learning Questionnaire (15 Items)</vt:lpstr>
      <vt:lpstr>Self-Regulated Learning Questionnaire (15 Items)</vt:lpstr>
      <vt:lpstr>Self-Regulated Learning Questionnaire (15 Items)</vt:lpstr>
      <vt:lpstr>Self-Regulated Learning Questionnaire (15 Items)</vt:lpstr>
      <vt:lpstr>Self-Regulated Learning Questionnaire (15 Items)</vt:lpstr>
      <vt:lpstr>Self-Regulated Learning Questionnaire (15 Items)</vt:lpstr>
      <vt:lpstr>Pilot Survey Results</vt:lpstr>
      <vt:lpstr>PowerPoint 프레젠테이션</vt:lpstr>
      <vt:lpstr>PowerPoint 프레젠테이션</vt:lpstr>
      <vt:lpstr>How teacher support was operationalized</vt:lpstr>
      <vt:lpstr>PowerPoint 프레젠테이션</vt:lpstr>
      <vt:lpstr>Implications</vt:lpstr>
      <vt:lpstr>PowerPoint 프레젠테이션</vt:lpstr>
      <vt:lpstr>Teacher support</vt:lpstr>
      <vt:lpstr>PowerPoint 프레젠테이션</vt:lpstr>
      <vt:lpstr>Hwang et al. (2024) Acceptance and Engagement Patterns of Mobile-Assisted Language Learning Among Non-Conventional Adult L2 Learners: A Survival Analysis </vt:lpstr>
      <vt:lpstr>Measurement of App Engagement</vt:lpstr>
      <vt:lpstr>Transition to the Main Study</vt:lpstr>
      <vt:lpstr>Research Gap</vt:lpstr>
      <vt:lpstr>What We Do Not Know</vt:lpstr>
      <vt:lpstr>Research Questions</vt:lpstr>
      <vt:lpstr>Expected Contribution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</dc:title>
  <dc:creator>satang0531@gmail.com</dc:creator>
  <cp:lastModifiedBy>satang0531@gmail.com</cp:lastModifiedBy>
  <cp:revision>32</cp:revision>
  <cp:lastPrinted>2026-06-16T23:20:46Z</cp:lastPrinted>
  <dcterms:created xsi:type="dcterms:W3CDTF">2026-06-16T09:44:38Z</dcterms:created>
  <dcterms:modified xsi:type="dcterms:W3CDTF">2026-06-17T08:35:40Z</dcterms:modified>
</cp:coreProperties>
</file>